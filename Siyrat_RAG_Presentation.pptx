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Siyrat RAG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Retrieval-Augmented Generation for Uzbek Islamic Biography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3337560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33756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siyrat-rag-production.up.railway.app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·  BM25  ·  Groq  ·  Streamlit  ·  Railway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LLMs </a:t>
            </a:r>
            <a:r>
              <a:rPr lang="en-US" sz="32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hallucinate </a:t>
            </a:r>
            <a:r>
              <a:rPr lang="en-US" sz="36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about Islamic history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13232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Ask any LLM about Prophet Muhammad's life → confident but wrong details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713232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57400"/>
            <a:ext cx="7863840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Uzbek Islamic texts are scattered across books — not digitally searchable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713232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971800"/>
            <a:ext cx="7863840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system exists that answers strictly from Uzbek source material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8229600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69080"/>
            <a:ext cx="8229600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answers grounded in real books — not model guesses.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RAG system that reads the books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23774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3657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Retrieves passages from 3 digitized Uzbek Islamic books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657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generated strictly from retrieved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657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Every answer cites the source book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920240"/>
            <a:ext cx="777240" cy="59436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920240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58968" y="1920240"/>
            <a:ext cx="2011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920240"/>
            <a:ext cx="777240" cy="59436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920240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47688" y="1920240"/>
            <a:ext cx="2011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1920240"/>
            <a:ext cx="777240" cy="59436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920240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36408" y="1920240"/>
            <a:ext cx="2011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1920240"/>
            <a:ext cx="777240" cy="59436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920240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25128" y="1920240"/>
            <a:ext cx="2011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18320" y="1920240"/>
            <a:ext cx="777240" cy="59436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1920240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554480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PIPELINE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 Source Books · 2041 Chunks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005840"/>
          <a:ext cx="8229600" cy="2011680"/>
        </p:xfrm>
        <a:graphic>
          <a:graphicData uri="http://schemas.openxmlformats.org/drawingml/2006/table">
            <a:tbl>
              <a:tblPr/>
              <a:tblGrid>
                <a:gridCol w="5029200"/>
                <a:gridCol w="1600200"/>
                <a:gridCol w="16002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Book</a:t>
                      </a:r>
                      <a:endParaRPr lang="en-US" sz="14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Pages</a:t>
                      </a:r>
                      <a:endParaRPr lang="en-US" sz="14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Chunks</a:t>
                      </a:r>
                      <a:endParaRPr lang="en-US" sz="14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Tarixi Muhammadiy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Nurul-yaqin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~700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Shohista Kamol qizi — Bolaligi va yoshliklari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~541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A6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11880"/>
            <a:ext cx="2651760" cy="502920"/>
          </a:xfrm>
          <a:prstGeom prst="rect">
            <a:avLst/>
          </a:prstGeom>
          <a:solidFill>
            <a:srgbClr val="16233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" name="Text 2"/>
          <p:cNvSpPr/>
          <p:nvPr/>
        </p:nvSpPr>
        <p:spPr>
          <a:xfrm>
            <a:off x="457200" y="36118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OCR-extracted PDFs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91840" y="3611880"/>
            <a:ext cx="2651760" cy="502920"/>
          </a:xfrm>
          <a:prstGeom prst="rect">
            <a:avLst/>
          </a:prstGeom>
          <a:solidFill>
            <a:srgbClr val="16233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91840" y="36118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regex fixes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3611880"/>
            <a:ext cx="2651760" cy="502920"/>
          </a:xfrm>
          <a:prstGeom prst="rect">
            <a:avLst/>
          </a:prstGeom>
          <a:solidFill>
            <a:srgbClr val="16233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36118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words · 32 overlap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V1 — Dense Embedding 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INDEXING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188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63624" y="123444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1188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2344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35224" y="123444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234440"/>
            <a:ext cx="1188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2344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06824" y="123444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1188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2344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78424" y="123444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1234440"/>
            <a:ext cx="1188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2344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50024" y="123444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1234440"/>
            <a:ext cx="1188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2344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1031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QUERY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377440"/>
            <a:ext cx="14173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3774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92224" y="237744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65960" y="2377440"/>
            <a:ext cx="14173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23774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92424" y="237744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66160" y="2377440"/>
            <a:ext cx="14173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3774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92624" y="237744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66360" y="2377440"/>
            <a:ext cx="14173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3774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92824" y="237744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2377440"/>
            <a:ext cx="14173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3774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03520" y="3246120"/>
            <a:ext cx="3383280" cy="155448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0" y="3337560"/>
            <a:ext cx="3017520" cy="137160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multilingual-e5-base (768-dim)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cosine similarity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2/4 queries correct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V2 — Hybrid Search + Query Expansion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INDEXING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4173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92224" y="118872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92808" y="1188720"/>
            <a:ext cx="14173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92808" y="11887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19272" y="118872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9856" y="1188720"/>
            <a:ext cx="14173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1887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46904" y="1188720"/>
            <a:ext cx="14173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6904" y="11887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3368" y="1188720"/>
            <a:ext cx="109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73952" y="1188720"/>
            <a:ext cx="14173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1887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BM25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99339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QUERY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240280"/>
            <a:ext cx="1261872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40280"/>
            <a:ext cx="12618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91056" y="2240280"/>
            <a:ext cx="91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73352" y="2240280"/>
            <a:ext cx="1261872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73352" y="2240280"/>
            <a:ext cx="12618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Expansion×3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44368" y="2240280"/>
            <a:ext cx="91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26664" y="2240280"/>
            <a:ext cx="1261872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26664" y="2240280"/>
            <a:ext cx="12618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2240280"/>
            <a:ext cx="91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79976" y="2240280"/>
            <a:ext cx="1261872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9976" y="2240280"/>
            <a:ext cx="12618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50992" y="2240280"/>
            <a:ext cx="91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33288" y="2240280"/>
            <a:ext cx="1261872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33288" y="2240280"/>
            <a:ext cx="12618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04304" y="2240280"/>
            <a:ext cx="91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86600" y="2240280"/>
            <a:ext cx="1261872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2240280"/>
            <a:ext cx="12618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+Source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063240"/>
            <a:ext cx="19202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0632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BM25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31720" y="3063240"/>
            <a:ext cx="19202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31720" y="30632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RRF fusion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43400" y="3063240"/>
            <a:ext cx="19202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30632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Query expansion ×3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55080" y="3063240"/>
            <a:ext cx="19202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0632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passage:/query: prefix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83680" y="3703320"/>
            <a:ext cx="2103120" cy="822960"/>
          </a:xfrm>
          <a:prstGeom prst="rect">
            <a:avLst/>
          </a:prstGeom>
          <a:solidFill>
            <a:srgbClr val="145A14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583680" y="370332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4/4 queries correct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broke — and how we fixed it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005840"/>
          <a:ext cx="8229600" cy="3182112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Problem</a:t>
                      </a:r>
                      <a:endParaRPr lang="en-US" sz="14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Solution</a:t>
                      </a:r>
                      <a:endParaRPr lang="en-US" sz="14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split words: "ha qida"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regex cleaner · 15+ Uzbek-specific fixes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Omina chunk ranked #18, not found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n_results: 5 → 20 + BM25 boost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 model used without prefixes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passage: / query: asymmetric encoding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Qwen3-32B adding training data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prompt engineering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image 7.6GB &gt; 4GB limit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CPU-only PyTorch → ~3GB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Measured every change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eval.py · 4 known-answer retrieval queries · logged to experiment_log.md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8988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566928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baseline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1325880"/>
            <a:ext cx="164592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 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82296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48256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4825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84248"/>
            <a:ext cx="566928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passage: prefix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1984248"/>
            <a:ext cx="164592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 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06624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066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642616"/>
            <a:ext cx="566928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n_results 5 → 20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642616"/>
            <a:ext cx="164592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 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82296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300984"/>
            <a:ext cx="566928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hybrid 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300984"/>
            <a:ext cx="164592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 🟡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959352"/>
            <a:ext cx="82296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023360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233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959352"/>
            <a:ext cx="566928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 added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3959352"/>
            <a:ext cx="164592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✅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2041 Chunks Visualized with t-SNE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200400"/>
          </a:xfrm>
          <a:prstGeom prst="rect">
            <a:avLst/>
          </a:prstGeom>
          <a:solidFill>
            <a:srgbClr val="1E3A5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1920240"/>
          </a:xfrm>
          <a:prstGeom prst="rect">
            <a:avLst/>
          </a:prstGeom>
          <a:solidFill>
            <a:srgbClr val="0A1428"/>
          </a:solidFill>
          <a:ln w="12700">
            <a:solidFill>
              <a:srgbClr val="253D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82880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73736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274320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219456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46888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28600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64592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83464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192024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56032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01752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201168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92608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310896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1600200"/>
            <a:ext cx="100584" cy="100584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2900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chunking · no prefix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loosely scattered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3931920" cy="3200400"/>
          </a:xfrm>
          <a:prstGeom prst="rect">
            <a:avLst/>
          </a:prstGeom>
          <a:solidFill>
            <a:srgbClr val="1E3A5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29200" y="1508760"/>
            <a:ext cx="3566160" cy="1920240"/>
          </a:xfrm>
          <a:prstGeom prst="rect">
            <a:avLst/>
          </a:prstGeom>
          <a:solidFill>
            <a:srgbClr val="0A1428"/>
          </a:solidFill>
          <a:ln w="12700">
            <a:solidFill>
              <a:srgbClr val="253D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16916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23560" y="182880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19202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196596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17830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2286000"/>
            <a:ext cx="109728" cy="109728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5160" y="2194560"/>
            <a:ext cx="109728" cy="109728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2377440"/>
            <a:ext cx="109728" cy="109728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2423160"/>
            <a:ext cx="109728" cy="109728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2286000"/>
            <a:ext cx="109728" cy="109728"/>
          </a:xfrm>
          <a:prstGeom prst="ellipse">
            <a:avLst/>
          </a:prstGeom>
          <a:solidFill>
            <a:srgbClr val="4A7FCF"/>
          </a:solidFill>
          <a:ln w="12700">
            <a:solidFill>
              <a:srgbClr val="4A7FC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292608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283464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306324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301752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297180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42900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OCR-cleaned · passage: prefix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semantic clusters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intfloat/multilingual-e5-base · 768 dimensions → 2D · t-SNE perplexity=30 · max_iter=1000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18 Questions · 3 Models · LLM-as-Judge</a:t>
            </a:r>
            <a:endParaRPr lang="en-US" sz="3200" b="1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Faithfulness · Accuracy · Completeness (1–5 each)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234440"/>
          <a:ext cx="8229600" cy="2194560"/>
        </p:xfrm>
        <a:graphic>
          <a:graphicData uri="http://schemas.openxmlformats.org/drawingml/2006/table">
            <a:tbl>
              <a:tblPr/>
              <a:tblGrid>
                <a:gridCol w="3474720"/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Model</a:t>
                      </a:r>
                      <a:endParaRPr lang="en-US" sz="14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Overall</a:t>
                      </a:r>
                      <a:endParaRPr lang="en-US" sz="14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Easy</a:t>
                      </a:r>
                      <a:endParaRPr lang="en-US" sz="14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Medium</a:t>
                      </a:r>
                      <a:endParaRPr lang="en-US" sz="14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Hard</a:t>
                      </a:r>
                      <a:endParaRPr lang="en-US" sz="14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Llama 3.1 8B Instant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3.80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3.72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 Llama 4 Scout 17B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3.74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 Qwen3 32B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3.45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3611880"/>
            <a:ext cx="64008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611880"/>
            <a:ext cx="7863840" cy="11887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Qwen3-32B scored 1.0 on easy questions — it added training data instead of staying within retrieved context. The smaller Llama was more faithful.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5-Tab Streamlit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554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554480" cy="4114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Chat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2148840"/>
            <a:ext cx="1408176" cy="105156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+ query expansion + source citation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03120" y="1005840"/>
            <a:ext cx="155448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03120" y="1005840"/>
            <a:ext cx="1554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17043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1691640"/>
            <a:ext cx="1554480" cy="4114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76272" y="2148840"/>
            <a:ext cx="1408176" cy="105156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vs V2 side-by-side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49040" y="1005840"/>
            <a:ext cx="155448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1005840"/>
            <a:ext cx="1554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17043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🔵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49040" y="1691640"/>
            <a:ext cx="1554480" cy="4114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22192" y="2148840"/>
            <a:ext cx="1408176" cy="105156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V1 vs V2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94960" y="1005840"/>
            <a:ext cx="155448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1005840"/>
            <a:ext cx="1554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17043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94960" y="1691640"/>
            <a:ext cx="1554480" cy="4114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68112" y="2148840"/>
            <a:ext cx="1408176" cy="105156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RRF score chart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0" y="1005840"/>
            <a:ext cx="155448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40880" y="1005840"/>
            <a:ext cx="1554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17043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040880" y="1691640"/>
            <a:ext cx="1554480" cy="4114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Benchmark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14032" y="2148840"/>
            <a:ext cx="1408176" cy="105156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per-difficulty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371600" y="3657600"/>
            <a:ext cx="6400800" cy="594360"/>
          </a:xfrm>
          <a:prstGeom prst="roundRect">
            <a:avLst>
              <a:gd name="adj" fmla="val 4923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365760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siyrat-rag-production.up.railway.app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Built With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65176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1556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multilingual-e5-base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multilingual embeddings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1556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77640" y="10972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ChromaDB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77640" y="160020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· cosine similarity · HNSW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005840"/>
            <a:ext cx="265176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11556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66560" y="10972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BM25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160020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retrieval · rank-bm25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265176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62432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8720" y="26060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RRF Fusion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dense + sparse rankings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2514600"/>
            <a:ext cx="265176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62432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977640" y="26060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Groq 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77640" y="310896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· Qwen3 32B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2514600"/>
            <a:ext cx="265176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80760" y="262432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66560" y="26060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Railway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310896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 from GitHub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We Built · What We Learned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27432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3931920" cy="4572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3566160" cy="210312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for Uzbek Islamic texts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4/4 vs dense-only 2/4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· publicly accessible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931920" cy="27432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960120"/>
            <a:ext cx="3931920" cy="4572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1463040"/>
            <a:ext cx="3566160" cy="210312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prefixes matter significantly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models can beat larger on faithfulness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&gt; model size for RAG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solidFill>
            <a:srgbClr val="0F192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3931920"/>
            <a:ext cx="2377440" cy="457200"/>
          </a:xfrm>
          <a:prstGeom prst="rect">
            <a:avLst/>
          </a:prstGeom>
          <a:solidFill>
            <a:srgbClr val="0F192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9319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Uzbek embeddings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3931920"/>
            <a:ext cx="2377440" cy="457200"/>
          </a:xfrm>
          <a:prstGeom prst="rect">
            <a:avLst/>
          </a:prstGeom>
          <a:solidFill>
            <a:srgbClr val="0F192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9319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 books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Siyrat RAG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5A623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00200" y="2880360"/>
            <a:ext cx="5943600" cy="594360"/>
          </a:xfrm>
          <a:prstGeom prst="roundRect">
            <a:avLst>
              <a:gd name="adj" fmla="val 4923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2880360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siyrat-rag-production.up.railway.app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github.com/mokhiya/siyrat-rag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ChromaDB · BM25 · Groq · Streamlit · Docker · Railway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3559</Words>
  <Application>WPS Presentation</Application>
  <PresentationFormat>On-screen Show (16:9)</PresentationFormat>
  <Paragraphs>420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Helvetica Neue</vt:lpstr>
      <vt:lpstr>Calibri</vt:lpstr>
      <vt:lpstr>Calibri</vt:lpstr>
      <vt:lpstr>Apple Color Emoji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Siyrat RAG Pitch Deck</dc:title>
  <dc:creator>Siyrat RAG Team</dc:creator>
  <dc:subject>PptxGenJS Presentation</dc:subject>
  <cp:lastModifiedBy>mokhiya</cp:lastModifiedBy>
  <cp:revision>2</cp:revision>
  <dcterms:created xsi:type="dcterms:W3CDTF">2026-04-23T19:29:59Z</dcterms:created>
  <dcterms:modified xsi:type="dcterms:W3CDTF">2026-04-23T19:29:59Z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E9BE5D7B3AB555FF3673EA69094F5BFF_42</vt:lpwstr>
  </property>
  <property fmtid="{D5CDD505-2E9C-101B-9397-08002B2CF9AE}" pid="3" name="KSOProductBuildVer">
    <vt:lpwstr>1033-12.1.23155.23155</vt:lpwstr>
  </property>
</Properties>
</file>